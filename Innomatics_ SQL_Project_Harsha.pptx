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60" r:id="rId6"/>
    <p:sldId id="263" r:id="rId7"/>
    <p:sldId id="305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99" r:id="rId16"/>
    <p:sldId id="297" r:id="rId17"/>
    <p:sldId id="259" r:id="rId18"/>
  </p:sldIdLst>
  <p:sldSz cx="12192000" cy="6858000"/>
  <p:notesSz cx="6858000" cy="91440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Lato Black" panose="020F0502020204030203" pitchFamily="34" charset="0"/>
      <p:bold r:id="rId24"/>
      <p:boldItalic r:id="rId25"/>
    </p:embeddedFont>
    <p:embeddedFont>
      <p:font typeface="Libre Baskerville" panose="02000000000000000000" pitchFamily="2" charset="0"/>
      <p:regular r:id="rId26"/>
      <p:bold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7070D1B0516E8E6/Documents/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Top_5</a:t>
            </a:r>
            <a:r>
              <a:rPr lang="en-IN" baseline="0" dirty="0"/>
              <a:t> customers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0595791679445746"/>
          <c:y val="0.18501521625269657"/>
          <c:w val="0.8630842107315897"/>
          <c:h val="0.658232476869346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Sheet1!$B$117:$C$121</c:f>
              <c:multiLvlStrCache>
                <c:ptCount val="5"/>
                <c:lvl>
                  <c:pt idx="0">
                    <c:v>Chetan Naidu</c:v>
                  </c:pt>
                  <c:pt idx="1">
                    <c:v>Kapila</c:v>
                  </c:pt>
                  <c:pt idx="2">
                    <c:v>Eshwar Rao</c:v>
                  </c:pt>
                  <c:pt idx="3">
                    <c:v>Aditi Rao</c:v>
                  </c:pt>
                  <c:pt idx="4">
                    <c:v>Eshwar Iyer</c:v>
                  </c:pt>
                </c:lvl>
                <c:lvl>
                  <c:pt idx="0">
                    <c:v>19</c:v>
                  </c:pt>
                  <c:pt idx="1">
                    <c:v>166</c:v>
                  </c:pt>
                  <c:pt idx="2">
                    <c:v>67</c:v>
                  </c:pt>
                  <c:pt idx="3">
                    <c:v>61</c:v>
                  </c:pt>
                  <c:pt idx="4">
                    <c:v>7</c:v>
                  </c:pt>
                </c:lvl>
              </c:multiLvlStrCache>
            </c:multiLvlStrRef>
          </c:cat>
          <c:val>
            <c:numRef>
              <c:f>Sheet1!$D$117:$D$121</c:f>
              <c:numCache>
                <c:formatCode>General</c:formatCode>
                <c:ptCount val="5"/>
                <c:pt idx="0">
                  <c:v>11256.85</c:v>
                </c:pt>
                <c:pt idx="1">
                  <c:v>11099.51</c:v>
                </c:pt>
                <c:pt idx="2">
                  <c:v>10819.99</c:v>
                </c:pt>
                <c:pt idx="3">
                  <c:v>10230.620000000001</c:v>
                </c:pt>
                <c:pt idx="4">
                  <c:v>9188.5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72-41CC-A5CD-6D689F6CA1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96377327"/>
        <c:axId val="1096378287"/>
      </c:barChart>
      <c:catAx>
        <c:axId val="10963773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Customer</a:t>
                </a:r>
                <a:r>
                  <a:rPr lang="en-IN" baseline="0" dirty="0"/>
                  <a:t> name &amp; ID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0.42493194059330247"/>
              <c:y val="0.959011185658396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378287"/>
        <c:crosses val="autoZero"/>
        <c:auto val="1"/>
        <c:lblAlgn val="ctr"/>
        <c:lblOffset val="100"/>
        <c:noMultiLvlLbl val="0"/>
      </c:catAx>
      <c:valAx>
        <c:axId val="1096378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Total_</a:t>
                </a:r>
                <a:r>
                  <a:rPr lang="en-IN" baseline="0" dirty="0"/>
                  <a:t> </a:t>
                </a:r>
                <a:r>
                  <a:rPr lang="en-IN" baseline="0" dirty="0" err="1"/>
                  <a:t>Purchaes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0"/>
              <c:y val="0.304725507731071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377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165886256700669"/>
          <c:y val="7.8383560890550458E-2"/>
          <c:w val="0.7565584582895003"/>
          <c:h val="0.7959097190270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Sheet1!$C$35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Sheet1!$B$36:$B$85</c:f>
              <c:strCache>
                <c:ptCount val="50"/>
                <c:pt idx="0">
                  <c:v>Hand Sanitizer</c:v>
                </c:pt>
                <c:pt idx="1">
                  <c:v>Biscuits</c:v>
                </c:pt>
                <c:pt idx="2">
                  <c:v>Moong Dal</c:v>
                </c:pt>
                <c:pt idx="3">
                  <c:v>Toothpaste</c:v>
                </c:pt>
                <c:pt idx="4">
                  <c:v>Mustard Seeds</c:v>
                </c:pt>
                <c:pt idx="5">
                  <c:v>Cashews</c:v>
                </c:pt>
                <c:pt idx="6">
                  <c:v>Butter</c:v>
                </c:pt>
                <c:pt idx="7">
                  <c:v>Cheese Slices</c:v>
                </c:pt>
                <c:pt idx="8">
                  <c:v>Turmeric Powder</c:v>
                </c:pt>
                <c:pt idx="9">
                  <c:v>Soya Sauce</c:v>
                </c:pt>
                <c:pt idx="10">
                  <c:v>Toilet Cleaner</c:v>
                </c:pt>
                <c:pt idx="11">
                  <c:v>White Bread</c:v>
                </c:pt>
                <c:pt idx="12">
                  <c:v>Paneer</c:v>
                </c:pt>
                <c:pt idx="13">
                  <c:v>Detergent Powder</c:v>
                </c:pt>
                <c:pt idx="14">
                  <c:v>Brown Bread</c:v>
                </c:pt>
                <c:pt idx="15">
                  <c:v>Mouth wash</c:v>
                </c:pt>
                <c:pt idx="16">
                  <c:v>Chocolate Bar</c:v>
                </c:pt>
                <c:pt idx="17">
                  <c:v>Bath Soap</c:v>
                </c:pt>
                <c:pt idx="18">
                  <c:v>Ghee</c:v>
                </c:pt>
                <c:pt idx="19">
                  <c:v>Basmati Rice</c:v>
                </c:pt>
                <c:pt idx="20">
                  <c:v>Tomato Ketchup</c:v>
                </c:pt>
                <c:pt idx="21">
                  <c:v>Mayonnaise</c:v>
                </c:pt>
                <c:pt idx="22">
                  <c:v>Conditioner</c:v>
                </c:pt>
                <c:pt idx="23">
                  <c:v>Masala Tea</c:v>
                </c:pt>
                <c:pt idx="24">
                  <c:v>Shampoo</c:v>
                </c:pt>
                <c:pt idx="25">
                  <c:v>Chapati</c:v>
                </c:pt>
                <c:pt idx="26">
                  <c:v>Wheat Flour</c:v>
                </c:pt>
                <c:pt idx="27">
                  <c:v>Potato Chips</c:v>
                </c:pt>
                <c:pt idx="28">
                  <c:v>Red Chili Powder</c:v>
                </c:pt>
                <c:pt idx="29">
                  <c:v>Almonds</c:v>
                </c:pt>
                <c:pt idx="30">
                  <c:v>Cumin Seeds</c:v>
                </c:pt>
                <c:pt idx="31">
                  <c:v>Cinnamon Sticks</c:v>
                </c:pt>
                <c:pt idx="32">
                  <c:v>Dishwashing Soap</c:v>
                </c:pt>
                <c:pt idx="33">
                  <c:v>Facial Tissue</c:v>
                </c:pt>
                <c:pt idx="34">
                  <c:v>Jaggery</c:v>
                </c:pt>
                <c:pt idx="35">
                  <c:v>Mango Pickle</c:v>
                </c:pt>
                <c:pt idx="36">
                  <c:v>Sugar</c:v>
                </c:pt>
                <c:pt idx="37">
                  <c:v>Cardamom</c:v>
                </c:pt>
                <c:pt idx="38">
                  <c:v>Coffee Powder</c:v>
                </c:pt>
                <c:pt idx="39">
                  <c:v>Chickpeas</c:v>
                </c:pt>
                <c:pt idx="40">
                  <c:v>Green Tea</c:v>
                </c:pt>
                <c:pt idx="41">
                  <c:v>Salt</c:v>
                </c:pt>
                <c:pt idx="42">
                  <c:v>Black Pepper</c:v>
                </c:pt>
                <c:pt idx="43">
                  <c:v>Chili Sauce</c:v>
                </c:pt>
                <c:pt idx="44">
                  <c:v>Eggs</c:v>
                </c:pt>
                <c:pt idx="45">
                  <c:v>Instant Noodles</c:v>
                </c:pt>
                <c:pt idx="46">
                  <c:v>Soybean Oil</c:v>
                </c:pt>
                <c:pt idx="47">
                  <c:v>Mixed Vegetable Pickle</c:v>
                </c:pt>
                <c:pt idx="48">
                  <c:v>Yogurt</c:v>
                </c:pt>
                <c:pt idx="49">
                  <c:v>Pasta</c:v>
                </c:pt>
              </c:strCache>
            </c:strRef>
          </c:cat>
          <c:val>
            <c:numRef>
              <c:f>Sheet1!$C$36:$C$85</c:f>
              <c:numCache>
                <c:formatCode>General</c:formatCode>
                <c:ptCount val="50"/>
                <c:pt idx="0">
                  <c:v>27787.759999999998</c:v>
                </c:pt>
                <c:pt idx="1">
                  <c:v>20995.919999999998</c:v>
                </c:pt>
                <c:pt idx="2">
                  <c:v>19695.02</c:v>
                </c:pt>
                <c:pt idx="3">
                  <c:v>19688.95</c:v>
                </c:pt>
                <c:pt idx="4">
                  <c:v>19516.68</c:v>
                </c:pt>
                <c:pt idx="5">
                  <c:v>18561.919999999998</c:v>
                </c:pt>
                <c:pt idx="6">
                  <c:v>18548.400000000001</c:v>
                </c:pt>
                <c:pt idx="7">
                  <c:v>18519.61</c:v>
                </c:pt>
                <c:pt idx="8">
                  <c:v>17784.29</c:v>
                </c:pt>
                <c:pt idx="9">
                  <c:v>16985.38</c:v>
                </c:pt>
                <c:pt idx="10">
                  <c:v>16776.900000000001</c:v>
                </c:pt>
                <c:pt idx="11">
                  <c:v>16576.21</c:v>
                </c:pt>
                <c:pt idx="12">
                  <c:v>15980.84</c:v>
                </c:pt>
                <c:pt idx="13">
                  <c:v>14848.72</c:v>
                </c:pt>
                <c:pt idx="14">
                  <c:v>14538.04</c:v>
                </c:pt>
                <c:pt idx="15">
                  <c:v>14537.15</c:v>
                </c:pt>
                <c:pt idx="16">
                  <c:v>14278.18</c:v>
                </c:pt>
                <c:pt idx="17">
                  <c:v>14113</c:v>
                </c:pt>
                <c:pt idx="18">
                  <c:v>13161.31</c:v>
                </c:pt>
                <c:pt idx="19">
                  <c:v>11487.49</c:v>
                </c:pt>
                <c:pt idx="20">
                  <c:v>11283.92</c:v>
                </c:pt>
                <c:pt idx="21">
                  <c:v>11100.45</c:v>
                </c:pt>
                <c:pt idx="22">
                  <c:v>10949.84</c:v>
                </c:pt>
                <c:pt idx="23">
                  <c:v>10283.030000000001</c:v>
                </c:pt>
                <c:pt idx="24">
                  <c:v>10132.75</c:v>
                </c:pt>
                <c:pt idx="25">
                  <c:v>10084.19</c:v>
                </c:pt>
                <c:pt idx="26">
                  <c:v>9709</c:v>
                </c:pt>
                <c:pt idx="27">
                  <c:v>9176.33</c:v>
                </c:pt>
                <c:pt idx="28">
                  <c:v>8750.64</c:v>
                </c:pt>
                <c:pt idx="29">
                  <c:v>8520.43</c:v>
                </c:pt>
                <c:pt idx="30">
                  <c:v>8406.1</c:v>
                </c:pt>
                <c:pt idx="31">
                  <c:v>8309.02</c:v>
                </c:pt>
                <c:pt idx="32">
                  <c:v>7918.87</c:v>
                </c:pt>
                <c:pt idx="33">
                  <c:v>7788.7</c:v>
                </c:pt>
                <c:pt idx="34">
                  <c:v>7431.47</c:v>
                </c:pt>
                <c:pt idx="35">
                  <c:v>6752.59</c:v>
                </c:pt>
                <c:pt idx="36">
                  <c:v>6553.87</c:v>
                </c:pt>
                <c:pt idx="37">
                  <c:v>6208.2</c:v>
                </c:pt>
                <c:pt idx="38">
                  <c:v>6104.7</c:v>
                </c:pt>
                <c:pt idx="39">
                  <c:v>6009.56</c:v>
                </c:pt>
                <c:pt idx="40">
                  <c:v>5819.23</c:v>
                </c:pt>
                <c:pt idx="41">
                  <c:v>5703.43</c:v>
                </c:pt>
                <c:pt idx="42">
                  <c:v>5062.45</c:v>
                </c:pt>
                <c:pt idx="43">
                  <c:v>4022.53</c:v>
                </c:pt>
                <c:pt idx="44">
                  <c:v>3145.51</c:v>
                </c:pt>
                <c:pt idx="45">
                  <c:v>3133.16</c:v>
                </c:pt>
                <c:pt idx="46">
                  <c:v>3110.56</c:v>
                </c:pt>
                <c:pt idx="47">
                  <c:v>2136.16</c:v>
                </c:pt>
                <c:pt idx="48">
                  <c:v>1674.21</c:v>
                </c:pt>
                <c:pt idx="49">
                  <c:v>1667.26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3-4089-AFD5-78F6EA6D4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26617535"/>
        <c:axId val="926618975"/>
      </c:barChart>
      <c:catAx>
        <c:axId val="92661753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Product_name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0.344273810485707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618975"/>
        <c:crosses val="autoZero"/>
        <c:auto val="1"/>
        <c:lblAlgn val="ctr"/>
        <c:lblOffset val="100"/>
        <c:noMultiLvlLbl val="0"/>
      </c:catAx>
      <c:valAx>
        <c:axId val="9266189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Revenue_Genrated</a:t>
                </a:r>
              </a:p>
            </c:rich>
          </c:tx>
          <c:layout>
            <c:manualLayout>
              <c:xMode val="edge"/>
              <c:yMode val="edge"/>
              <c:x val="0.47879090113735784"/>
              <c:y val="0.920505701519889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617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580927384077"/>
          <c:y val="0.18300925925925926"/>
          <c:w val="0.88153018372703418"/>
          <c:h val="0.60368802857976089"/>
        </c:manualLayout>
      </c:layout>
      <c:lineChart>
        <c:grouping val="standard"/>
        <c:varyColors val="0"/>
        <c:ser>
          <c:idx val="0"/>
          <c:order val="0"/>
          <c:tx>
            <c:strRef>
              <c:f>Sheet1!$C$20</c:f>
              <c:strCache>
                <c:ptCount val="1"/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Sheet1!$B$21:$B$32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Sheet1!$C$21:$C$32</c:f>
              <c:numCache>
                <c:formatCode>General</c:formatCode>
                <c:ptCount val="12"/>
                <c:pt idx="0">
                  <c:v>30</c:v>
                </c:pt>
                <c:pt idx="1">
                  <c:v>28</c:v>
                </c:pt>
                <c:pt idx="2">
                  <c:v>27</c:v>
                </c:pt>
                <c:pt idx="3">
                  <c:v>11</c:v>
                </c:pt>
                <c:pt idx="4">
                  <c:v>19</c:v>
                </c:pt>
                <c:pt idx="5">
                  <c:v>14</c:v>
                </c:pt>
                <c:pt idx="6">
                  <c:v>21</c:v>
                </c:pt>
                <c:pt idx="7">
                  <c:v>20</c:v>
                </c:pt>
                <c:pt idx="8">
                  <c:v>23</c:v>
                </c:pt>
                <c:pt idx="9">
                  <c:v>12</c:v>
                </c:pt>
                <c:pt idx="10">
                  <c:v>19</c:v>
                </c:pt>
                <c:pt idx="11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BE-4A36-9C3A-26245443C786}"/>
            </c:ext>
          </c:extLst>
        </c:ser>
        <c:ser>
          <c:idx val="1"/>
          <c:order val="1"/>
          <c:tx>
            <c:strRef>
              <c:f>Sheet1!$D$20</c:f>
              <c:strCache>
                <c:ptCount val="1"/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2.6539833800656987E-2"/>
                  <c:y val="-1.6239270810334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BE-4A36-9C3A-26245443C786}"/>
                </c:ext>
              </c:extLst>
            </c:dLbl>
            <c:dLbl>
              <c:idx val="1"/>
              <c:layout>
                <c:manualLayout>
                  <c:x val="-1.8319553805774304E-2"/>
                  <c:y val="-2.54283318751822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DBE-4A36-9C3A-26245443C786}"/>
                </c:ext>
              </c:extLst>
            </c:dLbl>
            <c:dLbl>
              <c:idx val="3"/>
              <c:layout>
                <c:manualLayout>
                  <c:x val="-7.6652887139107659E-2"/>
                  <c:y val="3.01272236803732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163888888888888"/>
                      <c:h val="5.54862933799941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DBE-4A36-9C3A-26245443C786}"/>
                </c:ext>
              </c:extLst>
            </c:dLbl>
            <c:dLbl>
              <c:idx val="5"/>
              <c:layout>
                <c:manualLayout>
                  <c:x val="-3.8038542176549311E-2"/>
                  <c:y val="2.95222506607645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DBE-4A36-9C3A-26245443C786}"/>
                </c:ext>
              </c:extLst>
            </c:dLbl>
            <c:dLbl>
              <c:idx val="7"/>
              <c:layout>
                <c:manualLayout>
                  <c:x val="-7.1097331583552054E-2"/>
                  <c:y val="2.08679644211140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BE-4A36-9C3A-26245443C786}"/>
                </c:ext>
              </c:extLst>
            </c:dLbl>
            <c:dLbl>
              <c:idx val="8"/>
              <c:layout>
                <c:manualLayout>
                  <c:x val="-3.6698082511154938E-2"/>
                  <c:y val="-2.14036374076769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DBE-4A36-9C3A-26245443C786}"/>
                </c:ext>
              </c:extLst>
            </c:dLbl>
            <c:dLbl>
              <c:idx val="9"/>
              <c:layout>
                <c:manualLayout>
                  <c:x val="-4.091321927052239E-2"/>
                  <c:y val="2.72423972328298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DBE-4A36-9C3A-26245443C7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Sheet1!$B$21:$B$32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Sheet1!$D$21:$D$32</c:f>
              <c:numCache>
                <c:formatCode>General</c:formatCode>
                <c:ptCount val="12"/>
                <c:pt idx="0">
                  <c:v>70312.41</c:v>
                </c:pt>
                <c:pt idx="1">
                  <c:v>66929.48</c:v>
                </c:pt>
                <c:pt idx="2">
                  <c:v>45977.14</c:v>
                </c:pt>
                <c:pt idx="3">
                  <c:v>29118.53</c:v>
                </c:pt>
                <c:pt idx="4">
                  <c:v>41305.629999999997</c:v>
                </c:pt>
                <c:pt idx="5">
                  <c:v>27378.69</c:v>
                </c:pt>
                <c:pt idx="6">
                  <c:v>48674.51</c:v>
                </c:pt>
                <c:pt idx="7">
                  <c:v>36045.019999999997</c:v>
                </c:pt>
                <c:pt idx="8">
                  <c:v>52626.49</c:v>
                </c:pt>
                <c:pt idx="9">
                  <c:v>25917.32</c:v>
                </c:pt>
                <c:pt idx="10">
                  <c:v>46141.29</c:v>
                </c:pt>
                <c:pt idx="11">
                  <c:v>60903.01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DBE-4A36-9C3A-26245443C78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51801471"/>
        <c:axId val="451798591"/>
      </c:lineChart>
      <c:catAx>
        <c:axId val="4518014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/>
                  <a:t>Months</a:t>
                </a:r>
                <a:r>
                  <a:rPr lang="en-IN" sz="1200" baseline="0" dirty="0"/>
                  <a:t> &amp; </a:t>
                </a:r>
                <a:r>
                  <a:rPr lang="en-IN" sz="1200" dirty="0"/>
                  <a:t>volume</a:t>
                </a:r>
              </a:p>
            </c:rich>
          </c:tx>
          <c:layout>
            <c:manualLayout>
              <c:xMode val="edge"/>
              <c:yMode val="edge"/>
              <c:x val="0.46002925606412565"/>
              <c:y val="0.887605520166378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798591"/>
        <c:crosses val="autoZero"/>
        <c:auto val="1"/>
        <c:lblAlgn val="ctr"/>
        <c:lblOffset val="100"/>
        <c:noMultiLvlLbl val="0"/>
      </c:catAx>
      <c:valAx>
        <c:axId val="45179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/>
                  <a:t>Revenue</a:t>
                </a:r>
              </a:p>
            </c:rich>
          </c:tx>
          <c:layout>
            <c:manualLayout>
              <c:xMode val="edge"/>
              <c:yMode val="edge"/>
              <c:x val="1.4373385469865406E-2"/>
              <c:y val="0.317480663154097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80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Sheet1!$B$4:$B$8</c:f>
              <c:strCache>
                <c:ptCount val="5"/>
                <c:pt idx="0">
                  <c:v>Aarya</c:v>
                </c:pt>
                <c:pt idx="1">
                  <c:v>Sai</c:v>
                </c:pt>
                <c:pt idx="2">
                  <c:v>Suresh</c:v>
                </c:pt>
                <c:pt idx="3">
                  <c:v>Karthik</c:v>
                </c:pt>
                <c:pt idx="4">
                  <c:v>Aarav Sharma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221137.83</c:v>
                </c:pt>
                <c:pt idx="1">
                  <c:v>113588.51</c:v>
                </c:pt>
                <c:pt idx="2">
                  <c:v>101688.78</c:v>
                </c:pt>
                <c:pt idx="3">
                  <c:v>81861.960000000006</c:v>
                </c:pt>
                <c:pt idx="4">
                  <c:v>33052.85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3-47BB-9C11-6E23F77670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26590879"/>
        <c:axId val="449947999"/>
      </c:barChart>
      <c:catAx>
        <c:axId val="9265908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Supplier_name</a:t>
                </a:r>
              </a:p>
            </c:rich>
          </c:tx>
          <c:layout>
            <c:manualLayout>
              <c:xMode val="edge"/>
              <c:yMode val="edge"/>
              <c:x val="0.48231675814428104"/>
              <c:y val="0.961454598582559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9947999"/>
        <c:crosses val="autoZero"/>
        <c:auto val="1"/>
        <c:lblAlgn val="ctr"/>
        <c:lblOffset val="100"/>
        <c:noMultiLvlLbl val="0"/>
      </c:catAx>
      <c:valAx>
        <c:axId val="449947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err="1"/>
                  <a:t>Total_Revenue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1.8155425884833986E-3"/>
              <c:y val="0.380708628371885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590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Most_orders</a:t>
            </a:r>
          </a:p>
        </c:rich>
      </c:tx>
      <c:layout>
        <c:manualLayout>
          <c:xMode val="edge"/>
          <c:yMode val="edge"/>
          <c:x val="0.4441063215458797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0834151348871155E-2"/>
          <c:y val="0.10212327848100969"/>
          <c:w val="0.94353756794426757"/>
          <c:h val="0.79507925537045065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Sheet1!$B$103:$B$113</c:f>
              <c:strCache>
                <c:ptCount val="11"/>
                <c:pt idx="1">
                  <c:v>Diya Sharma 1</c:v>
                </c:pt>
                <c:pt idx="2">
                  <c:v>Aditya Singh 1</c:v>
                </c:pt>
                <c:pt idx="3">
                  <c:v>Arjun Kumar 1</c:v>
                </c:pt>
                <c:pt idx="4">
                  <c:v>Pari Kumar 1</c:v>
                </c:pt>
                <c:pt idx="5">
                  <c:v>Pari Sharma 1</c:v>
                </c:pt>
                <c:pt idx="6">
                  <c:v>Zara Verma 1</c:v>
                </c:pt>
                <c:pt idx="7">
                  <c:v>Vihaan Singh 1</c:v>
                </c:pt>
                <c:pt idx="8">
                  <c:v>Aditya Verma 1</c:v>
                </c:pt>
                <c:pt idx="9">
                  <c:v>Aarav Kumar 1</c:v>
                </c:pt>
                <c:pt idx="10">
                  <c:v>Arjun Verma 1</c:v>
                </c:pt>
              </c:strCache>
            </c:strRef>
          </c:cat>
          <c:val>
            <c:numRef>
              <c:f>Sheet1!$C$103:$C$113</c:f>
              <c:numCache>
                <c:formatCode>General</c:formatCode>
                <c:ptCount val="11"/>
                <c:pt idx="1">
                  <c:v>38</c:v>
                </c:pt>
                <c:pt idx="2">
                  <c:v>37</c:v>
                </c:pt>
                <c:pt idx="3">
                  <c:v>32</c:v>
                </c:pt>
                <c:pt idx="4">
                  <c:v>31</c:v>
                </c:pt>
                <c:pt idx="5">
                  <c:v>31</c:v>
                </c:pt>
                <c:pt idx="6">
                  <c:v>30</c:v>
                </c:pt>
                <c:pt idx="7">
                  <c:v>29</c:v>
                </c:pt>
                <c:pt idx="8">
                  <c:v>26</c:v>
                </c:pt>
                <c:pt idx="9">
                  <c:v>23</c:v>
                </c:pt>
                <c:pt idx="1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9-4A44-8556-E93EB289BD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972999231"/>
        <c:axId val="972998751"/>
      </c:barChart>
      <c:catAx>
        <c:axId val="972999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2998751"/>
        <c:crosses val="autoZero"/>
        <c:auto val="1"/>
        <c:lblAlgn val="ctr"/>
        <c:lblOffset val="100"/>
        <c:noMultiLvlLbl val="0"/>
      </c:catAx>
      <c:valAx>
        <c:axId val="972998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2999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347049"/>
            <a:ext cx="724618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44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</a:br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Grocery Store </a:t>
            </a:r>
            <a:r>
              <a:rPr lang="en-IN" sz="44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Managment</a:t>
            </a:r>
            <a:endParaRPr sz="4400" b="1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Background? (B-tech or M-tech)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Agenda (This should be the PPT flow)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14A6-B8C7-0416-A605-12B131B9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the Project: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756A3-DB6B-4F0D-F7F0-D8423CCF2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r>
              <a:rPr lang="en-US" dirty="0"/>
              <a:t>🛒 </a:t>
            </a:r>
            <a:r>
              <a:rPr lang="en-US" b="1" dirty="0"/>
              <a:t>Build a relational database</a:t>
            </a:r>
            <a:r>
              <a:rPr lang="en-US" dirty="0"/>
              <a:t> to manage suppliers, products, customers, employees, and orders.</a:t>
            </a:r>
          </a:p>
          <a:p>
            <a:r>
              <a:rPr lang="en-US" dirty="0"/>
              <a:t>📊 </a:t>
            </a:r>
            <a:r>
              <a:rPr lang="en-US" b="1" dirty="0"/>
              <a:t>Retrieve and analyze data</a:t>
            </a:r>
            <a:r>
              <a:rPr lang="en-US" dirty="0"/>
              <a:t> using SQL to understand sales, customers, and product performance.</a:t>
            </a:r>
          </a:p>
          <a:p>
            <a:r>
              <a:rPr lang="en-US" dirty="0"/>
              <a:t>📈 </a:t>
            </a:r>
            <a:r>
              <a:rPr lang="en-US" b="1" dirty="0"/>
              <a:t>Identify business insights</a:t>
            </a:r>
            <a:r>
              <a:rPr lang="en-US" dirty="0"/>
              <a:t> such as top customers, best-selling products, and revenue trends.</a:t>
            </a:r>
          </a:p>
          <a:p>
            <a:r>
              <a:rPr lang="en-US" dirty="0"/>
              <a:t>⚡ </a:t>
            </a:r>
            <a:r>
              <a:rPr lang="en-US" b="1" dirty="0"/>
              <a:t>Improve operational efficiency</a:t>
            </a:r>
            <a:r>
              <a:rPr lang="en-US" dirty="0"/>
              <a:t> through better decision-making and resource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86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F0B59-9FA2-280E-0E16-A877DFF5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48"/>
            <a:ext cx="9924836" cy="616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1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6188-E5C1-34A8-1BB1-735CE95B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Key analysis questions 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87CE1-8917-E073-2075-D1440969B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25563"/>
            <a:ext cx="12904342" cy="577407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200" b="1" dirty="0"/>
              <a:t>🔹 1. Customer Insights</a:t>
            </a:r>
          </a:p>
          <a:p>
            <a:pPr marL="114300" indent="0">
              <a:buNone/>
            </a:pPr>
            <a:endParaRPr lang="en-US" sz="3200" b="1" dirty="0"/>
          </a:p>
          <a:p>
            <a:pPr marL="114300" indent="0">
              <a:buNone/>
            </a:pPr>
            <a:r>
              <a:rPr lang="en-US" sz="3200" b="1" dirty="0"/>
              <a:t>🔹 2. Product Performance </a:t>
            </a:r>
          </a:p>
          <a:p>
            <a:pPr marL="114300" indent="0">
              <a:buNone/>
            </a:pPr>
            <a:endParaRPr lang="en-US" sz="3200" b="1" dirty="0"/>
          </a:p>
          <a:p>
            <a:pPr marL="114300" indent="0">
              <a:buNone/>
            </a:pPr>
            <a:r>
              <a:rPr lang="en-US" sz="3200" b="1" dirty="0"/>
              <a:t>🔹 3. Sales and Order Trends</a:t>
            </a:r>
          </a:p>
          <a:p>
            <a:pPr marL="114300" indent="0">
              <a:buNone/>
            </a:pPr>
            <a:endParaRPr lang="en-US" sz="3200" b="1" dirty="0"/>
          </a:p>
          <a:p>
            <a:pPr marL="114300" indent="0">
              <a:buNone/>
            </a:pPr>
            <a:r>
              <a:rPr lang="en-US" sz="3200" b="1" dirty="0"/>
              <a:t>🔹 4. Supplier Contribution</a:t>
            </a:r>
          </a:p>
          <a:p>
            <a:pPr marL="114300" indent="0">
              <a:buNone/>
            </a:pPr>
            <a:endParaRPr lang="en-US" sz="3200" b="1" dirty="0"/>
          </a:p>
          <a:p>
            <a:pPr marL="114300" indent="0">
              <a:buNone/>
            </a:pPr>
            <a:r>
              <a:rPr lang="en-US" sz="3200" b="1" dirty="0"/>
              <a:t>🔹 5. Employee Performance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4257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8AE9D7-3F69-9B21-352B-C4E30B8B8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7894834" cy="14215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2D1EDA-CE9E-C533-F172-3B12D3F1C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13478"/>
            <a:ext cx="3836481" cy="199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8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970461-501A-A06E-1CBF-770F0693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548327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CA500-CA85-F148-7C29-928667602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" y="3429000"/>
            <a:ext cx="5649050" cy="2625072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C7F67AF-EE52-D1C5-49CA-E626A368A1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9845419"/>
              </p:ext>
            </p:extLst>
          </p:nvPr>
        </p:nvGraphicFramePr>
        <p:xfrm>
          <a:off x="5729630" y="803928"/>
          <a:ext cx="6462369" cy="5422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6707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6818D6-A211-39E0-5D8B-A45F63A2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904"/>
            <a:ext cx="9379195" cy="2604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7C5614-E6D4-02B7-0FCD-269870F3D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25" y="3101009"/>
            <a:ext cx="4362372" cy="3423332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85370B7-0BC6-4C9C-3956-F1DADCC68C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7997984"/>
              </p:ext>
            </p:extLst>
          </p:nvPr>
        </p:nvGraphicFramePr>
        <p:xfrm>
          <a:off x="4613097" y="82194"/>
          <a:ext cx="7578903" cy="6442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9654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10D0D9-E00D-398D-7FDF-C909549D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132" y="281155"/>
            <a:ext cx="2813510" cy="3797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CC004C-57C4-3DF2-4082-164E8704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8" y="281155"/>
            <a:ext cx="8110779" cy="2769819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8C8210-DF56-CDEB-25B6-60A40A4566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8143401"/>
              </p:ext>
            </p:extLst>
          </p:nvPr>
        </p:nvGraphicFramePr>
        <p:xfrm>
          <a:off x="0" y="2455524"/>
          <a:ext cx="8835775" cy="4402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649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86842-DFCB-38D7-7B5C-5ADD647A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6" y="402493"/>
            <a:ext cx="8550023" cy="2440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50E7B5-EB01-E896-34E4-4D694230F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90" y="3429000"/>
            <a:ext cx="3745307" cy="2550791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91EE271-94DE-D810-AE4A-DB9806D631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906593"/>
              </p:ext>
            </p:extLst>
          </p:nvPr>
        </p:nvGraphicFramePr>
        <p:xfrm>
          <a:off x="5065160" y="1469204"/>
          <a:ext cx="6995154" cy="4777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6382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205DD-6BF3-2A18-6224-17AB1F3B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3" y="315947"/>
            <a:ext cx="8302853" cy="2258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BF813-E034-11BA-6F7F-8D1C24C7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55" y="2683594"/>
            <a:ext cx="3683604" cy="3858459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D4AB4D3-F87E-9F31-1E10-8F0A9CDF19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018812"/>
              </p:ext>
            </p:extLst>
          </p:nvPr>
        </p:nvGraphicFramePr>
        <p:xfrm>
          <a:off x="4592548" y="1445090"/>
          <a:ext cx="7599452" cy="4719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2852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0A522-BF06-EE88-CFFF-6A74957A1741}"/>
              </a:ext>
            </a:extLst>
          </p:cNvPr>
          <p:cNvSpPr txBox="1"/>
          <p:nvPr/>
        </p:nvSpPr>
        <p:spPr>
          <a:xfrm>
            <a:off x="186359" y="1521413"/>
            <a:ext cx="80631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Launch </a:t>
            </a:r>
            <a:r>
              <a:rPr lang="en-US" sz="2800" b="1" dirty="0"/>
              <a:t>loyalty programs</a:t>
            </a:r>
            <a:r>
              <a:rPr lang="en-US" sz="2800" dirty="0"/>
              <a:t> for repeat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Focus on </a:t>
            </a:r>
            <a:r>
              <a:rPr lang="en-US" sz="2800" b="1" dirty="0"/>
              <a:t>best-selling products</a:t>
            </a:r>
            <a:r>
              <a:rPr lang="en-US" sz="2800" dirty="0"/>
              <a:t>, reduce slow movers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Run </a:t>
            </a:r>
            <a:r>
              <a:rPr lang="en-US" sz="2800" b="1" dirty="0"/>
              <a:t>seasonal &amp; weekend promotions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Diversify suppliers</a:t>
            </a:r>
            <a:r>
              <a:rPr lang="en-US" sz="2800" dirty="0"/>
              <a:t> to reduce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Train &amp; </a:t>
            </a:r>
            <a:r>
              <a:rPr lang="en-US" sz="2800" b="1" dirty="0"/>
              <a:t>reward employees</a:t>
            </a:r>
            <a:r>
              <a:rPr lang="en-US" sz="2800" dirty="0"/>
              <a:t> for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E6092-931E-D385-C9D4-054F4FE77B3E}"/>
              </a:ext>
            </a:extLst>
          </p:cNvPr>
          <p:cNvSpPr txBox="1"/>
          <p:nvPr/>
        </p:nvSpPr>
        <p:spPr>
          <a:xfrm>
            <a:off x="186359" y="542684"/>
            <a:ext cx="6097656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US" sz="3200" b="1" dirty="0">
                <a:solidFill>
                  <a:srgbClr val="FF0000"/>
                </a:solidFill>
              </a:rPr>
              <a:t>Final business insights and Recommendations :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72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F2ED5-2254-B857-4242-DC14056E6552}"/>
              </a:ext>
            </a:extLst>
          </p:cNvPr>
          <p:cNvSpPr txBox="1"/>
          <p:nvPr/>
        </p:nvSpPr>
        <p:spPr>
          <a:xfrm>
            <a:off x="434836" y="463171"/>
            <a:ext cx="6097656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3200" b="1" dirty="0">
                <a:solidFill>
                  <a:srgbClr val="FF0000"/>
                </a:solidFill>
              </a:rPr>
              <a:t>Conclusion :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8BE4930-47A0-3F75-6E07-8C2BE22A2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4836" y="1370093"/>
            <a:ext cx="107853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how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relational database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simplify and optimize grocery store operations.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SQL-based analysis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visibility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customers,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products, suppliers, and employees.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integrating data insights into decision-making,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store can move towards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smarter inventory control, stronger customer relationships,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sustainable growth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6681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9C24EC-AA03-FE5B-017E-A495F5EE0847}"/>
              </a:ext>
            </a:extLst>
          </p:cNvPr>
          <p:cNvSpPr txBox="1"/>
          <p:nvPr/>
        </p:nvSpPr>
        <p:spPr>
          <a:xfrm>
            <a:off x="1011306" y="791162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4000" b="1" dirty="0"/>
              <a:t>Q&amp;A Slide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018339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74D466-C20D-9B78-DD20-8C87C02F9ED0}"/>
              </a:ext>
            </a:extLst>
          </p:cNvPr>
          <p:cNvSpPr txBox="1"/>
          <p:nvPr/>
        </p:nvSpPr>
        <p:spPr>
          <a:xfrm>
            <a:off x="477078" y="1720840"/>
            <a:ext cx="82022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Gained </a:t>
            </a:r>
            <a:r>
              <a:rPr lang="en-US" sz="2800" b="1" dirty="0"/>
              <a:t>hands-on practice</a:t>
            </a:r>
            <a:r>
              <a:rPr lang="en-US" sz="2800" dirty="0"/>
              <a:t> in designing and implementing a relational database.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Learned how to </a:t>
            </a:r>
            <a:r>
              <a:rPr lang="en-US" sz="2800" b="1" dirty="0"/>
              <a:t>analyze real-world business problems</a:t>
            </a:r>
            <a:r>
              <a:rPr lang="en-US" sz="2800" dirty="0"/>
              <a:t> with data-driven insights.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Enhanced understanding of </a:t>
            </a:r>
            <a:r>
              <a:rPr lang="en-US" sz="2800" b="1" dirty="0"/>
              <a:t>data relationships</a:t>
            </a:r>
            <a:r>
              <a:rPr lang="en-US" sz="2800" dirty="0"/>
              <a:t> between customers, products, suppliers, and employees.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94221-24A1-4DBB-1E57-F49B4CF5DA20}"/>
              </a:ext>
            </a:extLst>
          </p:cNvPr>
          <p:cNvSpPr txBox="1"/>
          <p:nvPr/>
        </p:nvSpPr>
        <p:spPr>
          <a:xfrm>
            <a:off x="477078" y="45240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Experience Gained: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83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364</Words>
  <Application>Microsoft Office PowerPoint</Application>
  <PresentationFormat>Widescreen</PresentationFormat>
  <Paragraphs>73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Lato Black</vt:lpstr>
      <vt:lpstr>Libre Baskerville</vt:lpstr>
      <vt:lpstr>Cambria</vt:lpstr>
      <vt:lpstr>Calibri</vt:lpstr>
      <vt:lpstr>Arial</vt:lpstr>
      <vt:lpstr>Office Theme</vt:lpstr>
      <vt:lpstr>PowerPoint Presentation</vt:lpstr>
      <vt:lpstr>PowerPoint Presentation</vt:lpstr>
      <vt:lpstr>Agenda (This should be the PPT flow)  </vt:lpstr>
      <vt:lpstr>Objective of the Project:</vt:lpstr>
      <vt:lpstr>PowerPoint Presentation</vt:lpstr>
      <vt:lpstr>Key analysis questions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harsha vardhan</cp:lastModifiedBy>
  <cp:revision>6</cp:revision>
  <dcterms:created xsi:type="dcterms:W3CDTF">2021-02-16T05:19:01Z</dcterms:created>
  <dcterms:modified xsi:type="dcterms:W3CDTF">2025-09-12T18:30:53Z</dcterms:modified>
</cp:coreProperties>
</file>